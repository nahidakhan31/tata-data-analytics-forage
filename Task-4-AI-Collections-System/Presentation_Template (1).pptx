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68" d="100"/>
          <a:sy n="68" d="100"/>
        </p:scale>
        <p:origin x="12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407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0" y="1000389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288F0E-BFC5-DD2D-9736-A7FDEF5E33E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83736" y="2824133"/>
            <a:ext cx="687996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uses customer financial and repayment data to identify delinquency risk.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predictive risk model assigns each customer a risk score.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the risk level, appropriate collection actions are triggered.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continuously learns from outcomes to improve future decisions.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the System Works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7E0E1-E6EA-33A2-8E47-B33A906D38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7350" y="1874788"/>
            <a:ext cx="837120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 Slab" panose="020F0502020204030204" pitchFamily="2" charset="0"/>
                <a:ea typeface="Roboto Slab" panose="020F0502020204030204" pitchFamily="2" charset="0"/>
                <a:cs typeface="Roboto Slab" panose="020F0502020204030204" pitchFamily="2" charset="0"/>
              </a:rPr>
              <a:t>Customer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demographics, payment history, credit utilization, outstanding balance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Logic: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delinquency model + predefined business rules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reminders, personalized payment plans, hardship support offers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Loop: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customer responses and repayment outcomes to refine the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b="1" dirty="0"/>
              <a:t>Autonomous (AI-Driven):</a:t>
            </a:r>
            <a:endParaRPr lang="en-US" dirty="0"/>
          </a:p>
          <a:p>
            <a:r>
              <a:rPr lang="en-US" dirty="0"/>
              <a:t>Risk scoring and customer segmentation</a:t>
            </a:r>
          </a:p>
          <a:p>
            <a:r>
              <a:rPr lang="en-US" dirty="0"/>
              <a:t>Sending payment reminders and alerts</a:t>
            </a:r>
          </a:p>
          <a:p>
            <a:r>
              <a:rPr lang="en-US" dirty="0"/>
              <a:t>Selecting appropriate intervention type</a:t>
            </a:r>
          </a:p>
          <a:p>
            <a:r>
              <a:rPr lang="en-US" b="1" dirty="0"/>
              <a:t>Human Oversight (Human-in-the-Loop):</a:t>
            </a:r>
            <a:endParaRPr lang="en-US" dirty="0"/>
          </a:p>
          <a:p>
            <a:r>
              <a:rPr lang="en-US" dirty="0"/>
              <a:t>Approving hardship or long-term repayment plans</a:t>
            </a:r>
          </a:p>
          <a:p>
            <a:r>
              <a:rPr lang="en-US" dirty="0"/>
              <a:t>Reviewing edge or high-impact cases</a:t>
            </a:r>
          </a:p>
          <a:p>
            <a:r>
              <a:rPr lang="en-US" dirty="0"/>
              <a:t>Monitoring fairness and compliance outcomes</a:t>
            </a:r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2634C-892E-6857-1224-EFF1589FAD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7350" y="2013288"/>
            <a:ext cx="857478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Fairness: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Regular bias checks across income and customer segments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Clear reasons provided for why a customer is flagged as high risk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Alignment with financial and data privacy regulations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 Oversight: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Manual review for sensitive or high-risk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/>
              <a:t>Business KPIs:</a:t>
            </a:r>
            <a:endParaRPr lang="en-US" sz="1600" dirty="0"/>
          </a:p>
          <a:p>
            <a:r>
              <a:rPr lang="en-US" sz="1600" dirty="0"/>
              <a:t>Reduction in delinquency rates</a:t>
            </a:r>
          </a:p>
          <a:p>
            <a:r>
              <a:rPr lang="en-US" sz="1600" dirty="0"/>
              <a:t>Higher repayment and recovery rates</a:t>
            </a:r>
          </a:p>
          <a:p>
            <a:r>
              <a:rPr lang="en-US" sz="1600" dirty="0"/>
              <a:t>Lower operational collection costs</a:t>
            </a:r>
          </a:p>
          <a:p>
            <a:r>
              <a:rPr lang="en-US" sz="1600" dirty="0"/>
              <a:t>Scalable and consistent decision-making</a:t>
            </a:r>
          </a:p>
          <a:p>
            <a:r>
              <a:rPr lang="en-US" sz="1600" b="1" dirty="0"/>
              <a:t>Customer Outcomes:</a:t>
            </a:r>
            <a:endParaRPr lang="en-US" sz="1600" dirty="0"/>
          </a:p>
          <a:p>
            <a:r>
              <a:rPr lang="en-US" sz="1600" dirty="0"/>
              <a:t>Improved customer experience through personalized outreach</a:t>
            </a:r>
          </a:p>
          <a:p>
            <a:r>
              <a:rPr lang="en-US" sz="1600" dirty="0"/>
              <a:t>Fair and transparent treatment</a:t>
            </a:r>
          </a:p>
          <a:p>
            <a:r>
              <a:rPr lang="en-US" sz="1600" dirty="0"/>
              <a:t>Early support instead of late-stage penalties</a:t>
            </a:r>
          </a:p>
          <a:p>
            <a:r>
              <a:rPr lang="en-US" sz="1600" dirty="0"/>
              <a:t>Increased trust in the collections process</a:t>
            </a:r>
          </a:p>
          <a:p>
            <a:pPr>
              <a:buNone/>
            </a:pPr>
            <a:endParaRPr lang="en-GB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</a:t>
            </a:r>
            <a:r>
              <a:rPr lang="en-IN" dirty="0"/>
              <a:t>AI System Monitoring &amp; Governance</a:t>
            </a:r>
            <a:r>
              <a:rPr lang="en-US" dirty="0"/>
              <a:t>]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A92AA0-8EE9-41D4-D1ED-58F8C11BCE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 monitoring of model performance and drift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Periodic fairness and bias audits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ownership and escalation process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Scheduled model reviews and updates</a:t>
            </a: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495</Words>
  <Application>Microsoft Office PowerPoint</Application>
  <PresentationFormat>On-screen Show (16:9)</PresentationFormat>
  <Paragraphs>57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Roboto Slab</vt:lpstr>
      <vt:lpstr>Roboto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[AI System Monitoring &amp; Governance]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Zeeshan Khan</cp:lastModifiedBy>
  <cp:revision>3</cp:revision>
  <dcterms:modified xsi:type="dcterms:W3CDTF">2026-02-09T19:30:22Z</dcterms:modified>
</cp:coreProperties>
</file>